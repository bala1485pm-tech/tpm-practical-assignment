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port" id="{00579bfe-0f1f-2471-dc50-0ed980e4770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4434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4434E"/>
                </a:solidFill>
                <a:latin typeface="+mn-lt"/>
              </a:rPr>
              <a:t>Applications live on GCP, cumulative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A9C3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10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A0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9</c:v>
                </c:pt>
                <c:pt idx="4">
                  <c:v/>
                </c:pt>
                <c:pt idx="5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88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9525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8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GCP Migration Program · Month 4 report · illustrative figures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GCP Migration Program: Monthly Stakeholder Report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Month 4 · end of week 17</a:t>
            </a: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For the executive sponsor and steering committee. Figures are illustrative.</a:t>
            </a:r>
            <a:endParaRPr lang="en-US" sz="22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Prepared by Balakrishna Pallapolu, program lead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Month 4 is amber; the end date holds</a:t>
            </a:r>
            <a:endParaRPr lang="en-US" sz="3400" dirty="0"/>
          </a:p>
        </p:txBody>
      </p:sp>
      <p:sp>
        <p:nvSpPr>
          <p:cNvPr id="3" name="status"/>
          <p:cNvSpPr/>
          <p:nvPr/>
        </p:nvSpPr>
        <p:spPr>
          <a:xfrm>
            <a:off x="548640" y="141732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AMBER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 of 20 applications live against a plan of 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Wave 1 moved 7 of its 8 applications on schedule with no rollbacks. One Tier 1 application, A-07, failed its cutover rehearsal: the final database sync took 5 hours 40 minutes against a 4-hour window. It is rescheduled to week 18. Wave 2 is on plan and the week 26 end date holds.</a:t>
            </a:r>
            <a:endParaRPr lang="en-US" sz="1500" dirty="0"/>
          </a:p>
        </p:txBody>
      </p:sp>
      <p:sp>
        <p:nvSpPr>
          <p:cNvPr id="7" name="kpi0"/>
          <p:cNvSpPr/>
          <p:nvPr/>
        </p:nvSpPr>
        <p:spPr>
          <a:xfrm>
            <a:off x="548640" y="3840480"/>
            <a:ext cx="1481328" cy="210312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023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20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6344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applications live; plan was 10</a:t>
            </a:r>
            <a:endParaRPr lang="en-US" sz="1200" dirty="0"/>
          </a:p>
        </p:txBody>
      </p:sp>
      <p:sp>
        <p:nvSpPr>
          <p:cNvPr id="10" name="kpi1"/>
          <p:cNvSpPr/>
          <p:nvPr/>
        </p:nvSpPr>
        <p:spPr>
          <a:xfrm>
            <a:off x="2157984" y="3840480"/>
            <a:ext cx="1481328" cy="210312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95144" y="4023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9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295144" y="466344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first-time cutovers, no rollbacks</a:t>
            </a:r>
            <a:endParaRPr lang="en-US" sz="1200" dirty="0"/>
          </a:p>
        </p:txBody>
      </p:sp>
      <p:sp>
        <p:nvSpPr>
          <p:cNvPr id="13" name="kpi2"/>
          <p:cNvSpPr/>
          <p:nvPr/>
        </p:nvSpPr>
        <p:spPr>
          <a:xfrm>
            <a:off x="3767328" y="3840480"/>
            <a:ext cx="1481328" cy="210312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04488" y="4023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904488" y="466344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 Severity 1 or 2 incidents</a:t>
            </a:r>
            <a:endParaRPr lang="en-US" sz="1200" dirty="0"/>
          </a:p>
        </p:txBody>
      </p:sp>
      <p:sp>
        <p:nvSpPr>
          <p:cNvPr id="16" name="kpi3"/>
          <p:cNvSpPr/>
          <p:nvPr/>
        </p:nvSpPr>
        <p:spPr>
          <a:xfrm>
            <a:off x="5376672" y="3840480"/>
            <a:ext cx="1481328" cy="210312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13832" y="4023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513832" y="4663440"/>
            <a:ext cx="1234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budget spent; plan was 59%</a:t>
            </a:r>
            <a:endParaRPr lang="en-US" sz="1200" dirty="0"/>
          </a:p>
        </p:txBody>
      </p:sp>
      <p:sp>
        <p:nvSpPr>
          <p:cNvPr id="19" name="ask"/>
          <p:cNvSpPr/>
          <p:nvPr/>
        </p:nvSpPr>
        <p:spPr>
          <a:xfrm>
            <a:off x="7223760" y="1417320"/>
            <a:ext cx="4389120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needed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574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Approve one six-hour weekend window for A-07 in week 18. The alternative is a phased database migration that adds two weeks and uses all remaining contingency.</a:t>
            </a:r>
            <a:endParaRPr lang="en-US" sz="1400" dirty="0"/>
          </a:p>
        </p:txBody>
      </p:sp>
      <p:sp>
        <p:nvSpPr>
          <p:cNvPr id="22" name="done"/>
          <p:cNvSpPr/>
          <p:nvPr/>
        </p:nvSpPr>
        <p:spPr>
          <a:xfrm>
            <a:off x="7223760" y="3840480"/>
            <a:ext cx="4389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5236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Achieved this month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4389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Seven Platform A applications cut over, two of them Tier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Severity 2 incident in hypercare, closed in three days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 cutover time down from 3h 10m to 2h 20m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application is two weeks behind plan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554480"/>
                <a:gridCol w="146304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Milestone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Planned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Forecast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Comment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M1 Mobilize and discover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 week 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Baseline approved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M2 Foundations ready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 week 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 sign-off received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M3 Pilot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 week 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Re-forecast confirmed the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M4 Wave 1: Platform 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16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18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Amber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of 8 live; A-07 outstanding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M5 Wave 2: Platform B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22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22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Green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of 10 builds complete; cutovers start week 18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M6 Resilience proven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24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24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Exercise scenario in draft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M7 Stabilize and hand over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26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Week 26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Starts week 24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Green: on plan. Amber: a gate is at risk and has a recovery path. Red: a gate will be missed without a steering decision.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Migration is one application short of plan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This month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First-time cutover success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 of 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least 90%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Rehearsals inside the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 of 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before go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Zone failover tests passed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 of 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live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Peak Tier 1 replica lag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 seconds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Under 5 minutes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 Severity 1 and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Spend to date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61%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59% planned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Contingency used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of 2 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Steering approval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583680" y="5852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Remaining migration contingency is now earmarked for A-07.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Three risks and issues need attention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1097280"/>
                <a:gridCol w="393192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A-07 cutover exceeds its 4-hour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Issue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Amber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Replication re-tuned; second rehearsal in week 17 ran 5 hours 10 minutes; six-hour window requested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Platform B team at 22 percent capacity against 30 percent agreed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Amber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Raised with sponsor; two features proposed for deferral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Business owners not yet confirmed for the DR exercise in week 23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Green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Invitations issued; confirmation due week 19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Two decisions, then the final wave</a:t>
            </a:r>
            <a:endParaRPr lang="en-US" sz="3400" dirty="0"/>
          </a:p>
        </p:txBody>
      </p:sp>
      <p:sp>
        <p:nvSpPr>
          <p:cNvPr id="3" name="decisions"/>
          <p:cNvSpPr/>
          <p:nvPr/>
        </p:nvSpPr>
        <p:spPr>
          <a:xfrm>
            <a:off x="54864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Approve a six-hour weekend window for A-07 in week 18.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alternative is a phased database migration, which adds two weeks and uses all remaining contingency.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Confirm Platform B team capacity at 30 percent through week 21.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Without it, Tier 1 cutovers in weeks 20 to 21 are at risk.</a:t>
            </a:r>
            <a:endParaRPr lang="en-US" sz="1600" dirty="0"/>
          </a:p>
        </p:txBody>
      </p:sp>
      <p:sp>
        <p:nvSpPr>
          <p:cNvPr id="6" name="next"/>
          <p:cNvSpPr/>
          <p:nvPr/>
        </p:nvSpPr>
        <p:spPr>
          <a:xfrm>
            <a:off x="617220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727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month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03120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Cut over A-07 and all 10 Platform B applications, weeks 18 to 21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Approve the DR exercise plan and start load testing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Reach gate G5: all 20 applications live by week 22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P Migration Blue">
  <a:themeElements>
    <a:clrScheme name="GCP Migration Blue">
      <a:dk1>
        <a:srgbClr val="1F2A33"/>
      </a:dk1>
      <a:lt1>
        <a:srgbClr val="FFFFFF"/>
      </a:lt1>
      <a:dk2>
        <a:srgbClr val="34434E"/>
      </a:dk2>
      <a:lt2>
        <a:srgbClr val="EEF3F7"/>
      </a:lt2>
      <a:accent1>
        <a:srgbClr val="00A0DF"/>
      </a:accent1>
      <a:accent2>
        <a:srgbClr val="D98E04"/>
      </a:accent2>
      <a:accent3>
        <a:srgbClr val="B8432B"/>
      </a:accent3>
      <a:accent4>
        <a:srgbClr val="657884"/>
      </a:accent4>
      <a:accent5>
        <a:srgbClr val="006E99"/>
      </a:accent5>
      <a:accent6>
        <a:srgbClr val="A9C3D0"/>
      </a:accent6>
      <a:hlink>
        <a:srgbClr val="006E99"/>
      </a:hlink>
      <a:folHlink>
        <a:srgbClr val="657884"/>
      </a:folHlink>
    </a:clrScheme>
    <a:fontScheme name="GCP Migration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GCP Migration Program: Monthly Stakeholder Report</dc:title>
  <dc:subject>PptxGenJS Presentation</dc:subject>
  <dc:creator>Balakrishna Pallapolu</dc:creator>
  <cp:lastModifiedBy>Balakrishna Pallapolu</cp:lastModifiedBy>
  <cp:revision>1</cp:revision>
  <dcterms:created xsi:type="dcterms:W3CDTF">2026-10-05T03:17:12Z</dcterms:created>
  <dcterms:modified xsi:type="dcterms:W3CDTF">2026-10-05T03:17:12Z</dcterms:modified>
</cp:coreProperties>
</file>