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proach" id="{19b36d47-4155-d389-b39a-790d7f2e759e}">
          <p14:sldIdLst>
            <p14:sldId id="256"/>
            <p14:sldId id="257"/>
            <p14:sldId id="258"/>
            <p14:sldId id="259"/>
            <p14:sldId id="260"/>
          </p14:sldIdLst>
        </p14:section>
        <p14:section name="Roadmap" id="{6634ccb3-bd8f-a7f7-4f36-78a37f6d9838}">
          <p14:sldIdLst>
            <p14:sldId id="261"/>
          </p14:sldIdLst>
        </p14:section>
        <p14:section name="Execution plan" id="{5a71395d-4a34-03fe-e955-00cdbf0e22a0}">
          <p14:sldIdLst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Risks and decisions" id="{aec8d217-6ac3-fb3d-c620-91f998d528a8}">
          <p14:sldIdLst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GCP Migration Program · Scenario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GCP Migration Program Approach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20 applications, two platforms, 26 weeks</a:t>
            </a:r>
            <a:endParaRPr lang="en-US" sz="22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Scenario 1 · Program planning</a:t>
            </a:r>
            <a:endParaRPr lang="en-US" sz="2200" dirty="0"/>
          </a:p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Balakrishna Pallapolu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All 20 applications live by week 22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Replatform, do not redesign. Applications move in three waves ordered by dependency and risk, each using one repeatable cutover pattern. Resilience is tested inside every wave, not left to the end.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What I commit to as program owner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54680"/>
            <a:ext cx="6035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20 applications and their databases in production on GCP by week 22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Recovery targets agreed in week 3 and demonstrated by week 24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gate at the end of every milestone; a go/no-go and a tested rollback for every cutover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Any threat to the end date raised within a week of discovery</a:t>
            </a:r>
            <a:endParaRPr lang="en-US" sz="1400" dirty="0"/>
          </a:p>
        </p:txBody>
      </p:sp>
      <p:sp>
        <p:nvSpPr>
          <p:cNvPr id="6" name="tile0"/>
          <p:cNvSpPr/>
          <p:nvPr/>
        </p:nvSpPr>
        <p:spPr>
          <a:xfrm>
            <a:off x="7040880" y="1417320"/>
            <a:ext cx="219456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223760" y="16459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7223760" y="23317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applications across two platforms</a:t>
            </a:r>
            <a:endParaRPr lang="en-US" sz="1400" dirty="0"/>
          </a:p>
        </p:txBody>
      </p:sp>
      <p:sp>
        <p:nvSpPr>
          <p:cNvPr id="9" name="tile1"/>
          <p:cNvSpPr/>
          <p:nvPr/>
        </p:nvSpPr>
        <p:spPr>
          <a:xfrm>
            <a:off x="9418320" y="1417320"/>
            <a:ext cx="219456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0" y="16459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9601200" y="23317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waves: pilot, Platform A, Platform B</a:t>
            </a:r>
            <a:endParaRPr lang="en-US" sz="1400" dirty="0"/>
          </a:p>
        </p:txBody>
      </p:sp>
      <p:sp>
        <p:nvSpPr>
          <p:cNvPr id="12" name="tile2"/>
          <p:cNvSpPr/>
          <p:nvPr/>
        </p:nvSpPr>
        <p:spPr>
          <a:xfrm>
            <a:off x="7040880" y="3337560"/>
            <a:ext cx="219456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223760" y="35661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24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7223760" y="4251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HA and DR proven in a full exercise</a:t>
            </a:r>
            <a:endParaRPr lang="en-US" sz="1400" dirty="0"/>
          </a:p>
        </p:txBody>
      </p:sp>
      <p:sp>
        <p:nvSpPr>
          <p:cNvPr id="15" name="tile3"/>
          <p:cNvSpPr/>
          <p:nvPr/>
        </p:nvSpPr>
        <p:spPr>
          <a:xfrm>
            <a:off x="9418320" y="3337560"/>
            <a:ext cx="219456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01200" y="35661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weeks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0" y="4251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contingency held at program level</a:t>
            </a:r>
            <a:endParaRPr lang="en-US" sz="1400" dirty="0"/>
          </a:p>
        </p:txBody>
      </p:sp>
      <p:sp>
        <p:nvSpPr>
          <p:cNvPr id="18" name="conditions"/>
          <p:cNvSpPr/>
          <p:nvPr/>
        </p:nvSpPr>
        <p:spPr>
          <a:xfrm>
            <a:off x="548640" y="5440680"/>
            <a:ext cx="11064240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544068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Holds on three conditions: 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no material application refactoring  ·  key decisions closed by week 4  ·  committed team capacity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What the brief leaves open, and what I assumed</a:t>
            </a:r>
            <a:endParaRPr lang="en-US" sz="3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3931920"/>
                <a:gridCol w="2560320"/>
                <a:gridCol w="21031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Open question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Assumption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If wrong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Confirmed by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Why are the platforms complex?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Shared databases and batch jobs; integrations cross both platforms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Larger move groups; fewer, bigger cutovers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Traffic analysis, week 3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Can applications move as they are?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On-premises source; 16 of 20 containerize without code change; the rest rehost on VMs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Each refactor adds about 3 weeks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Fitness review, week 3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How critical, what recovery?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 Tier 1 (RTO 1 hour, RPO 5 minutes), 9 Tier 2 (4 hours, 15 minutes), 5 Tier 3 (24 hours)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Tighter targets need active-active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Business sign-off, week 3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What regulation applies?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Regulated financial data; US regions only; audit evidence at every gate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 new approval step before G2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Security and risk review, week 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How much downtime?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Tier 1: one 4-hour weekend window. Tier 2 and 3: a weeknight window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Zero downtime needs another pattern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Business sign-off, week 4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Who does the work?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Two squads of six, a platform team of five, 30 percent of each application team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 third squad or less scope is needed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Sponsor commitment, week 4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What constrains the calendar?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One change freeze of up to two weeks, assumed in weeks 12 to 13 when no cutovers are planned; dual running is funded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 freeze elsewhere uses contingency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Change calendar, week 4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Replatform onto managed GCP services</a:t>
            </a:r>
            <a:endParaRPr lang="en-US" sz="3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57607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6576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Layer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Target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Java and modern .NET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Containers on regional GKE clusters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Legacy .NET Framework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Windows VMs in regional managed instance groups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PostgreSQL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Cloud SQL, regional HA, cross-region replica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Data migration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Database Migration Service, continuous replication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Network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Shared VPC, interconnect, VPN as backup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Delivery and operations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One pipeline, infrastructure as code, central monitoring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675120" y="14173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Disaster recovery by tier</a:t>
            </a:r>
            <a:endParaRPr lang="en-US" sz="1600" dirty="0"/>
          </a:p>
        </p:txBody>
      </p:sp>
      <p:sp>
        <p:nvSpPr>
          <p:cNvPr id="5" name="tier0"/>
          <p:cNvSpPr/>
          <p:nvPr/>
        </p:nvSpPr>
        <p:spPr>
          <a:xfrm>
            <a:off x="6675120" y="1828800"/>
            <a:ext cx="49377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0" y="1938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Tier 1 · 6 applications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858000" y="22311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Warm standby in a second region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858000" y="252374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RTO 1 hour · RPO 5 minutes</a:t>
            </a:r>
            <a:endParaRPr lang="en-US" sz="1200" dirty="0"/>
          </a:p>
        </p:txBody>
      </p:sp>
      <p:sp>
        <p:nvSpPr>
          <p:cNvPr id="9" name="tier1"/>
          <p:cNvSpPr/>
          <p:nvPr/>
        </p:nvSpPr>
        <p:spPr>
          <a:xfrm>
            <a:off x="6675120" y="3017520"/>
            <a:ext cx="49377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0" y="31272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Tier 2 · 9 applications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858000" y="341985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Pilot light: live replica, compute rebuilt from code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858000" y="37124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RTO 4 hours · RPO 15 minutes</a:t>
            </a:r>
            <a:endParaRPr lang="en-US" sz="1200" dirty="0"/>
          </a:p>
        </p:txBody>
      </p:sp>
      <p:sp>
        <p:nvSpPr>
          <p:cNvPr id="13" name="tier2"/>
          <p:cNvSpPr/>
          <p:nvPr/>
        </p:nvSpPr>
        <p:spPr>
          <a:xfrm>
            <a:off x="6675120" y="4206240"/>
            <a:ext cx="49377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58000" y="43159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Tier 3 · 5 applications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0" y="46085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Restore from cross-region backup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0" y="49011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RTO 24 hours · RPO 24 hours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55321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All tiers run across multiple zones with automatic database failover. The 5-minute RPO is measured under load in the pilot, because the cross-region replica is asynchronous.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One cutover pattern, repeated 20 times</a:t>
            </a:r>
            <a:endParaRPr lang="en-US" sz="3400" dirty="0"/>
          </a:p>
        </p:txBody>
      </p:sp>
      <p:sp>
        <p:nvSpPr>
          <p:cNvPr id="3" name="step0"/>
          <p:cNvSpPr/>
          <p:nvPr/>
        </p:nvSpPr>
        <p:spPr>
          <a:xfrm>
            <a:off x="548640" y="1554480"/>
            <a:ext cx="2066544" cy="3291840"/>
          </a:xfrm>
          <a:prstGeom prst="roundRect">
            <a:avLst>
              <a:gd name="adj" fmla="val 354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num0"/>
          <p:cNvSpPr/>
          <p:nvPr/>
        </p:nvSpPr>
        <p:spPr>
          <a:xfrm>
            <a:off x="731520" y="1737360"/>
            <a:ext cx="502920" cy="5029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423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8163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T minus 3 weeks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20040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Infrastructure from code; application in non-production; replication started</a:t>
            </a:r>
            <a:endParaRPr lang="en-US" sz="1400" dirty="0"/>
          </a:p>
        </p:txBody>
      </p:sp>
      <p:sp>
        <p:nvSpPr>
          <p:cNvPr id="9" name="step1"/>
          <p:cNvSpPr/>
          <p:nvPr/>
        </p:nvSpPr>
        <p:spPr>
          <a:xfrm>
            <a:off x="2798064" y="1554480"/>
            <a:ext cx="2066544" cy="3291840"/>
          </a:xfrm>
          <a:prstGeom prst="roundRect">
            <a:avLst>
              <a:gd name="adj" fmla="val 354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num1"/>
          <p:cNvSpPr/>
          <p:nvPr/>
        </p:nvSpPr>
        <p:spPr>
          <a:xfrm>
            <a:off x="2980944" y="1737360"/>
            <a:ext cx="502920" cy="5029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80944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980944" y="2423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2980944" y="28163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T minus 2 weeks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980944" y="320040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Functional, integration, performance and security tests on the target</a:t>
            </a:r>
            <a:endParaRPr lang="en-US" sz="1400" dirty="0"/>
          </a:p>
        </p:txBody>
      </p:sp>
      <p:sp>
        <p:nvSpPr>
          <p:cNvPr id="15" name="step2"/>
          <p:cNvSpPr/>
          <p:nvPr/>
        </p:nvSpPr>
        <p:spPr>
          <a:xfrm>
            <a:off x="5047488" y="1554480"/>
            <a:ext cx="2066544" cy="3291840"/>
          </a:xfrm>
          <a:prstGeom prst="roundRect">
            <a:avLst>
              <a:gd name="adj" fmla="val 354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num2"/>
          <p:cNvSpPr/>
          <p:nvPr/>
        </p:nvSpPr>
        <p:spPr>
          <a:xfrm>
            <a:off x="5230368" y="1737360"/>
            <a:ext cx="502920" cy="5029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230368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230368" y="2423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Rehearse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230368" y="28163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T minus 1 week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230368" y="320040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Full cutover and rollback with production-sized data, timed</a:t>
            </a:r>
            <a:endParaRPr lang="en-US" sz="1400" dirty="0"/>
          </a:p>
        </p:txBody>
      </p:sp>
      <p:sp>
        <p:nvSpPr>
          <p:cNvPr id="21" name="step3"/>
          <p:cNvSpPr/>
          <p:nvPr/>
        </p:nvSpPr>
        <p:spPr>
          <a:xfrm>
            <a:off x="7296912" y="1554480"/>
            <a:ext cx="2066544" cy="3291840"/>
          </a:xfrm>
          <a:prstGeom prst="roundRect">
            <a:avLst>
              <a:gd name="adj" fmla="val 354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num3"/>
          <p:cNvSpPr/>
          <p:nvPr/>
        </p:nvSpPr>
        <p:spPr>
          <a:xfrm>
            <a:off x="7479792" y="17373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79792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479792" y="2423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Cut over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7479792" y="28163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T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479792" y="320040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Go/no-go, stop writes, final sync, reconcile data, switch traffic, validate</a:t>
            </a:r>
            <a:endParaRPr lang="en-US" sz="1400" dirty="0"/>
          </a:p>
        </p:txBody>
      </p:sp>
      <p:sp>
        <p:nvSpPr>
          <p:cNvPr id="27" name="step4"/>
          <p:cNvSpPr/>
          <p:nvPr/>
        </p:nvSpPr>
        <p:spPr>
          <a:xfrm>
            <a:off x="9546336" y="1554480"/>
            <a:ext cx="2066544" cy="3291840"/>
          </a:xfrm>
          <a:prstGeom prst="roundRect">
            <a:avLst>
              <a:gd name="adj" fmla="val 354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num4"/>
          <p:cNvSpPr/>
          <p:nvPr/>
        </p:nvSpPr>
        <p:spPr>
          <a:xfrm>
            <a:off x="9729216" y="1737360"/>
            <a:ext cx="502920" cy="5029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729216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9729216" y="2423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Hypercare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9729216" y="28163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T plus 2 weeks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9729216" y="320040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Squad stays on call; source kept read-only for 30 days for reconciliation, not failback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1663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Rollback: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decision point at T plus 2 hours. Before it, traffic returns to the source. After it, the team fixes forward.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A common pattern is what makes 20 cutovers in 13 weeks credible: every team learns it once, and each rehearsal produces a measured duration before any go decision.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Seven milestones over 26 weeks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107485" y="1783080"/>
            <a:ext cx="0" cy="3886200"/>
          </a:xfrm>
          <a:prstGeom prst="line">
            <a:avLst/>
          </a:prstGeom>
          <a:noFill/>
          <a:ln w="9525">
            <a:solidFill>
              <a:srgbClr val="CBD5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833165" y="14904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W2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648810" y="1783080"/>
            <a:ext cx="0" cy="3886200"/>
          </a:xfrm>
          <a:prstGeom prst="line">
            <a:avLst/>
          </a:prstGeom>
          <a:noFill/>
          <a:ln w="9525">
            <a:solidFill>
              <a:srgbClr val="CBD5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374490" y="14904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W4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190134" y="1783080"/>
            <a:ext cx="0" cy="3886200"/>
          </a:xfrm>
          <a:prstGeom prst="line">
            <a:avLst/>
          </a:prstGeom>
          <a:noFill/>
          <a:ln w="9525">
            <a:solidFill>
              <a:srgbClr val="CBD5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15814" y="14904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W6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731459" y="1783080"/>
            <a:ext cx="0" cy="3886200"/>
          </a:xfrm>
          <a:prstGeom prst="line">
            <a:avLst/>
          </a:prstGeom>
          <a:noFill/>
          <a:ln w="9525">
            <a:solidFill>
              <a:srgbClr val="CBD5D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57139" y="14904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W8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72784" y="1783080"/>
            <a:ext cx="0" cy="3886200"/>
          </a:xfrm>
          <a:prstGeom prst="line">
            <a:avLst/>
          </a:prstGeom>
          <a:noFill/>
          <a:ln w="9525">
            <a:solidFill>
              <a:srgbClr val="CBD5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98464" y="14904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W10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14109" y="1783080"/>
            <a:ext cx="0" cy="3886200"/>
          </a:xfrm>
          <a:prstGeom prst="line">
            <a:avLst/>
          </a:prstGeom>
          <a:noFill/>
          <a:ln w="9525">
            <a:solidFill>
              <a:srgbClr val="CBD5D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39789" y="14904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W12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55434" y="1783080"/>
            <a:ext cx="0" cy="3886200"/>
          </a:xfrm>
          <a:prstGeom prst="line">
            <a:avLst/>
          </a:prstGeom>
          <a:noFill/>
          <a:ln w="9525">
            <a:solidFill>
              <a:srgbClr val="CBD5D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081114" y="14904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W14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96758" y="1783080"/>
            <a:ext cx="0" cy="3886200"/>
          </a:xfrm>
          <a:prstGeom prst="line">
            <a:avLst/>
          </a:prstGeom>
          <a:noFill/>
          <a:ln w="9525">
            <a:solidFill>
              <a:srgbClr val="CBD5D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22438" y="14904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W16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438083" y="1783080"/>
            <a:ext cx="0" cy="3886200"/>
          </a:xfrm>
          <a:prstGeom prst="line">
            <a:avLst/>
          </a:prstGeom>
          <a:noFill/>
          <a:ln w="9525">
            <a:solidFill>
              <a:srgbClr val="CBD5D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63763" y="14904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W18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979408" y="1783080"/>
            <a:ext cx="0" cy="3886200"/>
          </a:xfrm>
          <a:prstGeom prst="line">
            <a:avLst/>
          </a:prstGeom>
          <a:noFill/>
          <a:ln w="9525">
            <a:solidFill>
              <a:srgbClr val="CBD5D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705088" y="14904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W20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520733" y="1783080"/>
            <a:ext cx="0" cy="3886200"/>
          </a:xfrm>
          <a:prstGeom prst="line">
            <a:avLst/>
          </a:prstGeom>
          <a:noFill/>
          <a:ln w="9525">
            <a:solidFill>
              <a:srgbClr val="CBD5D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246413" y="14904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W22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0062058" y="1783080"/>
            <a:ext cx="0" cy="3886200"/>
          </a:xfrm>
          <a:prstGeom prst="line">
            <a:avLst/>
          </a:prstGeom>
          <a:noFill/>
          <a:ln w="9525">
            <a:solidFill>
              <a:srgbClr val="CBD5D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787738" y="14904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W24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603382" y="1783080"/>
            <a:ext cx="0" cy="3886200"/>
          </a:xfrm>
          <a:prstGeom prst="line">
            <a:avLst/>
          </a:prstGeom>
          <a:noFill/>
          <a:ln w="9525">
            <a:solidFill>
              <a:srgbClr val="CBD5D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329062" y="14904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W26</a:t>
            </a:r>
            <a:endParaRPr lang="en-US" sz="1100" dirty="0"/>
          </a:p>
        </p:txBody>
      </p:sp>
      <p:sp>
        <p:nvSpPr>
          <p:cNvPr id="29" name="week22"/>
          <p:cNvSpPr/>
          <p:nvPr/>
        </p:nvSpPr>
        <p:spPr>
          <a:xfrm>
            <a:off x="9520733" y="1783080"/>
            <a:ext cx="0" cy="3886200"/>
          </a:xfrm>
          <a:prstGeom prst="line">
            <a:avLst/>
          </a:prstGeom>
          <a:noFill/>
          <a:ln w="19050">
            <a:solidFill>
              <a:srgbClr val="00A0DF"/>
            </a:solidFill>
            <a:prstDash val="dash"/>
          </a:ln>
        </p:spPr>
      </p:sp>
      <p:sp>
        <p:nvSpPr>
          <p:cNvPr id="30" name="Text 28"/>
          <p:cNvSpPr txBox="1"/>
          <p:nvPr/>
        </p:nvSpPr>
        <p:spPr>
          <a:xfrm>
            <a:off x="548640" y="195681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M1 Mobilize and discover</a:t>
            </a:r>
            <a:endParaRPr lang="en-US" sz="1400" dirty="0"/>
          </a:p>
        </p:txBody>
      </p:sp>
      <p:sp>
        <p:nvSpPr>
          <p:cNvPr id="31" name="bar0"/>
          <p:cNvSpPr/>
          <p:nvPr/>
        </p:nvSpPr>
        <p:spPr>
          <a:xfrm>
            <a:off x="3566160" y="1984248"/>
            <a:ext cx="1082650" cy="237744"/>
          </a:xfrm>
          <a:prstGeom prst="roundRect">
            <a:avLst>
              <a:gd name="adj" fmla="val 50000"/>
            </a:avLst>
          </a:prstGeom>
          <a:solidFill>
            <a:schemeClr val="accent4">
              <a:alpha val="45000"/>
            </a:schemeClr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32" name="gate0"/>
          <p:cNvSpPr/>
          <p:nvPr/>
        </p:nvSpPr>
        <p:spPr>
          <a:xfrm>
            <a:off x="4520794" y="1975104"/>
            <a:ext cx="256032" cy="256032"/>
          </a:xfrm>
          <a:prstGeom prst="diamond">
            <a:avLst/>
          </a:prstGeom>
          <a:solidFill>
            <a:schemeClr val="tx2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849978" y="195681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G1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247802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M2 Foundations ready</a:t>
            </a:r>
            <a:endParaRPr lang="en-US" sz="1400" dirty="0"/>
          </a:p>
        </p:txBody>
      </p:sp>
      <p:sp>
        <p:nvSpPr>
          <p:cNvPr id="35" name="bar1"/>
          <p:cNvSpPr/>
          <p:nvPr/>
        </p:nvSpPr>
        <p:spPr>
          <a:xfrm>
            <a:off x="4107485" y="2505456"/>
            <a:ext cx="1623974" cy="237744"/>
          </a:xfrm>
          <a:prstGeom prst="roundRect">
            <a:avLst>
              <a:gd name="adj" fmla="val 50000"/>
            </a:avLst>
          </a:prstGeom>
          <a:solidFill>
            <a:schemeClr val="accent4">
              <a:alpha val="45000"/>
            </a:schemeClr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36" name="gate1"/>
          <p:cNvSpPr/>
          <p:nvPr/>
        </p:nvSpPr>
        <p:spPr>
          <a:xfrm>
            <a:off x="5603443" y="2496312"/>
            <a:ext cx="256032" cy="256032"/>
          </a:xfrm>
          <a:prstGeom prst="diamond">
            <a:avLst/>
          </a:prstGeom>
          <a:solidFill>
            <a:schemeClr val="tx2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932627" y="24780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G2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29992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M3 Pilot: 2 applications</a:t>
            </a:r>
            <a:endParaRPr lang="en-US" sz="1400" dirty="0"/>
          </a:p>
        </p:txBody>
      </p:sp>
      <p:sp>
        <p:nvSpPr>
          <p:cNvPr id="39" name="bar2"/>
          <p:cNvSpPr/>
          <p:nvPr/>
        </p:nvSpPr>
        <p:spPr>
          <a:xfrm>
            <a:off x="5190134" y="3026664"/>
            <a:ext cx="1082650" cy="237744"/>
          </a:xfrm>
          <a:prstGeom prst="roundRect">
            <a:avLst>
              <a:gd name="adj" fmla="val 50000"/>
            </a:avLst>
          </a:prstGeom>
          <a:solidFill>
            <a:schemeClr val="accent4">
              <a:alpha val="45000"/>
            </a:schemeClr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0" name="gate2"/>
          <p:cNvSpPr/>
          <p:nvPr/>
        </p:nvSpPr>
        <p:spPr>
          <a:xfrm>
            <a:off x="6144768" y="3017520"/>
            <a:ext cx="256032" cy="256032"/>
          </a:xfrm>
          <a:prstGeom prst="diamond">
            <a:avLst/>
          </a:prstGeom>
          <a:solidFill>
            <a:schemeClr val="tx2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473952" y="299923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G3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548640" y="35204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M4 Wave 1: Platform A</a:t>
            </a:r>
            <a:endParaRPr lang="en-US" sz="1400" dirty="0"/>
          </a:p>
        </p:txBody>
      </p:sp>
      <p:sp>
        <p:nvSpPr>
          <p:cNvPr id="43" name="bar3"/>
          <p:cNvSpPr/>
          <p:nvPr/>
        </p:nvSpPr>
        <p:spPr>
          <a:xfrm>
            <a:off x="6272784" y="3547872"/>
            <a:ext cx="1623974" cy="237744"/>
          </a:xfrm>
          <a:prstGeom prst="roundRect">
            <a:avLst>
              <a:gd name="adj" fmla="val 50000"/>
            </a:avLst>
          </a:prstGeom>
          <a:solidFill>
            <a:schemeClr val="accent4">
              <a:alpha val="45000"/>
            </a:schemeClr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4" name="gate3"/>
          <p:cNvSpPr/>
          <p:nvPr/>
        </p:nvSpPr>
        <p:spPr>
          <a:xfrm>
            <a:off x="7768742" y="3538728"/>
            <a:ext cx="256032" cy="256032"/>
          </a:xfrm>
          <a:prstGeom prst="diamond">
            <a:avLst/>
          </a:prstGeom>
          <a:solidFill>
            <a:schemeClr val="tx2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097926" y="352044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G4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548640" y="40416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M5 Wave 2: Platform B</a:t>
            </a:r>
            <a:endParaRPr lang="en-US" sz="1400" dirty="0"/>
          </a:p>
        </p:txBody>
      </p:sp>
      <p:sp>
        <p:nvSpPr>
          <p:cNvPr id="47" name="bar4"/>
          <p:cNvSpPr/>
          <p:nvPr/>
        </p:nvSpPr>
        <p:spPr>
          <a:xfrm>
            <a:off x="7355434" y="4069080"/>
            <a:ext cx="2165299" cy="23774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8" name="gate4"/>
          <p:cNvSpPr/>
          <p:nvPr/>
        </p:nvSpPr>
        <p:spPr>
          <a:xfrm>
            <a:off x="9392717" y="4059936"/>
            <a:ext cx="256032" cy="256032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721901" y="404164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G5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548640" y="456285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M6 Resilience proven</a:t>
            </a:r>
            <a:endParaRPr lang="en-US" sz="1400" dirty="0"/>
          </a:p>
        </p:txBody>
      </p:sp>
      <p:sp>
        <p:nvSpPr>
          <p:cNvPr id="51" name="bar5"/>
          <p:cNvSpPr/>
          <p:nvPr/>
        </p:nvSpPr>
        <p:spPr>
          <a:xfrm>
            <a:off x="8979408" y="4590288"/>
            <a:ext cx="1082650" cy="237744"/>
          </a:xfrm>
          <a:prstGeom prst="roundRect">
            <a:avLst>
              <a:gd name="adj" fmla="val 50000"/>
            </a:avLst>
          </a:prstGeom>
          <a:solidFill>
            <a:schemeClr val="accent4">
              <a:alpha val="45000"/>
            </a:schemeClr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52" name="gate5"/>
          <p:cNvSpPr/>
          <p:nvPr/>
        </p:nvSpPr>
        <p:spPr>
          <a:xfrm>
            <a:off x="9934042" y="4581144"/>
            <a:ext cx="256032" cy="256032"/>
          </a:xfrm>
          <a:prstGeom prst="diamond">
            <a:avLst/>
          </a:prstGeom>
          <a:solidFill>
            <a:schemeClr val="tx2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10263226" y="456285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G6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548640" y="508406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M7 Stabilize and hand over</a:t>
            </a:r>
            <a:endParaRPr lang="en-US" sz="1400" dirty="0"/>
          </a:p>
        </p:txBody>
      </p:sp>
      <p:sp>
        <p:nvSpPr>
          <p:cNvPr id="55" name="bar6"/>
          <p:cNvSpPr/>
          <p:nvPr/>
        </p:nvSpPr>
        <p:spPr>
          <a:xfrm>
            <a:off x="9791395" y="5111496"/>
            <a:ext cx="811987" cy="237744"/>
          </a:xfrm>
          <a:prstGeom prst="roundRect">
            <a:avLst>
              <a:gd name="adj" fmla="val 50000"/>
            </a:avLst>
          </a:prstGeom>
          <a:solidFill>
            <a:schemeClr val="accent4">
              <a:alpha val="45000"/>
            </a:schemeClr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56" name="gate6"/>
          <p:cNvSpPr/>
          <p:nvPr/>
        </p:nvSpPr>
        <p:spPr>
          <a:xfrm>
            <a:off x="10475366" y="5102352"/>
            <a:ext cx="256032" cy="256032"/>
          </a:xfrm>
          <a:prstGeom prst="diamond">
            <a:avLst/>
          </a:prstGeom>
          <a:solidFill>
            <a:schemeClr val="tx2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10804550" y="508406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G7</a:t>
            </a:r>
            <a:endParaRPr lang="en-US" sz="1200" dirty="0"/>
          </a:p>
        </p:txBody>
      </p:sp>
      <p:sp>
        <p:nvSpPr>
          <p:cNvPr id="58" name="Text 56"/>
          <p:cNvSpPr txBox="1"/>
          <p:nvPr/>
        </p:nvSpPr>
        <p:spPr>
          <a:xfrm>
            <a:off x="548640" y="56235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Week 22: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all 20 applications in production, four weeks before close.  </a:t>
            </a:r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Diamonds mark gates.  </a:t>
            </a:r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Cutovers finish in week 21, leaving contingency before G5 and before G7.</a:t>
            </a:r>
            <a:endParaRPr lang="en-US" sz="1400" dirty="0"/>
          </a:p>
        </p:txBody>
      </p:sp>
      <p:sp>
        <p:nvSpPr>
          <p:cNvPr id="59" name="Text 57"/>
          <p:cNvSpPr txBox="1"/>
          <p:nvPr/>
        </p:nvSpPr>
        <p:spPr>
          <a:xfrm>
            <a:off x="548640" y="59436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Critical path: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interconnect and security sign-off, G2, pilot cutover, G3, Wave 1, Wave 2 Tier 1 cutovers, DR exercise, G6.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M1 Mobilize and discover: weeks 1 to 4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Replace assumptions with facts and baseline a plan the sponsors sign.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4480560"/>
                <a:gridCol w="2926080"/>
                <a:gridCol w="1005840"/>
                <a:gridCol w="26517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Activity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Owner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Weeks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Output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Confirm sponsor, governance and decision rights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Program lead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Charter, responsibility matrix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Order interconnect; open security baseline review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Platform and security leads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Order placed; review booked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Inventory 20 applications and their dependencies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Application leads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 to 3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Inventory, dependency map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Decide containerize or rehost; check databases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Platform and database leads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 to 3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Disposition per application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Agree tiers and recovery targets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Program lead, business owners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Signed tiering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Define move groups, wave plan, capacity, budget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Program lead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 to 4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Baselined plan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Approve target architecture and DR design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Cloud platform lead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Architecture decision record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4406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Exit gate: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G1 Baseline approved, week 4: inventory and dependency map complete; tiers and recovery targets signed; plan and budget baselined.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Lever if late: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baseline Wave 1 only and finish Platform B discovery during foundations.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M2 Foundations ready: weeks 3 to 8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A secure, observable landing zone that any application can be deployed to from code.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4480560"/>
                <a:gridCol w="2926080"/>
                <a:gridCol w="1005840"/>
                <a:gridCol w="26517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Activity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Owner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Weeks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Output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Build landing zone as code in two regions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Cloud platform lead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 to 6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Landing zone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Bring up VPN, then interconnect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Cloud platform lead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 to 7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Hybrid connectivity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Build CI/CD pipeline and base images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Cloud platform lead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 to 7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One pipeline, three templates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Define database, replication and backup patterns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Database lead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 to 7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Reusable database module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Set up logging, monitoring and alerting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SRE lead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 to 8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Operations baseline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Security review and penetration test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Security lead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 to 8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Sign-off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Deploy a reference application end to end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Cloud platform lead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Working proof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4406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Exit gate: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G2 Foundations accepted, week 8: security sign-off; interconnect live; pipeline deploys a reference application.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Lever if late: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the pilot proceeds over VPN; Wave 1 does not start without the interconnect.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M3 Pilot, 2 applications: weeks 7 to 10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Prove the cutover pattern on one .NET and one Java Tier 3 application, and measure what was only estimated.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4480560"/>
                <a:gridCol w="2926080"/>
                <a:gridCol w="1005840"/>
                <a:gridCol w="26517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Activity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Owner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Weeks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Output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Build both applications in non-production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Squad 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Target environments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Functional, integration and performance tests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Test lead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Test report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Rehearse cutover and rollback, timed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Squad 1, database lead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 to 9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Measured durations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Production cutover, after G2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Program lead runs go/no-go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Two applications live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Zone failover test; DR dry run; replica lag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SRE lead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 to 10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Resilience evidence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Retrospective; update runbook and estimates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Program lead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Runbook version 1; re-forecast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4406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Exit gate: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G3 Pilot live, week 10: two applications in production; cutover and rollback rehearsed; zone failover passed; re-forecast issued.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Lever if late: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effort more than 25 percent over estimate goes to steering as a re-plan.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M4 Wave 1, Platform A: weeks 11 to 16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Move the remaining 8 Platform A applications, reaching 10 of 20 in production.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4480560"/>
                <a:gridCol w="2926080"/>
                <a:gridCol w="1005840"/>
                <a:gridCol w="26517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Activity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Owner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Weeks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Output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Build 8 applications; start replication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Squads 1 and 2, Platform A lead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11 to 12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Target environments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Test each move group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Test lead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12 to 14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Test reports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Rehearse each cutover and rollback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Squads, database lead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13 to 15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Timings inside the window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Cut over Tier 3 and Tier 2 on weeknights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Program lead runs go/no-go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14 to 15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 applications live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Cut over Tier 1 at weekends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Program lead runs go/no-go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15 to 16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 applications live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Zone failover test per application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SRE lead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14 to 16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HA evidence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4406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Exit gate: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G4 Platform A complete, week 16: 10 applications in production; no open Severity 1 or 2 defects.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Lever if late: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 move group that fails rehearsal joins the Wave 2 schedule and does not delay the wave.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M5 Wave 2, Platform B: weeks 15 to 22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Move all 10 Platform B applications, reaching 20 of 20 in production.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4480560"/>
                <a:gridCol w="2926080"/>
                <a:gridCol w="1005840"/>
                <a:gridCol w="26517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Activity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Owner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Weeks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Output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Build 10 applications; start replication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Squads 1 and 2, Platform B lead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15 to 18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Target environments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Test each move group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Test lead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16 to 19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Test reports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Rehearse each cutover and rollback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Squads, database lead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17 to 20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Timings inside the window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Cut over Tier 3 and Tier 2 on weeknights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Program lead runs go/no-go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18 to 20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 applications live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Cut over Tier 1 at weekends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Program lead runs go/no-go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20 to 21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 applications live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Source set read-only and retained; contingency before G5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Program lead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Evidence for gate G5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4406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Exit gate: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G5 All applications live, week 22: 20 applications in production; source read-only and retained.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Lever if late: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the contingency before G5 absorbs one slip. A second slip goes to steering: add a squad, or defer a Tier 3 application.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M6 Resilience proven: weeks 21 to 24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Demonstrate, with evidence, that the target meets its recovery targets.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4480560"/>
                <a:gridCol w="2926080"/>
                <a:gridCol w="1005840"/>
                <a:gridCol w="26517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Activity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Owner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Weeks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Output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Approve DR exercise scenario and criteria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SRE lead, business owners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Exercise plan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Load test the full estate at peak volume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Test lead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21 to 22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Performance report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Regional failover exercise, Tier 1 and 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SRE lead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Measured RTO and RPO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Timed backup restore for Tier 3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Database lead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Measured restore time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Fail back; fix findings; retest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SRE lead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24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Closed findings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Assemble evidence pack for risk and audit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Program lead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24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Evidence pack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4406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Exit gate: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G6 Resilience proven, week 24: DR exercise meets recovery targets; performance within 10 percent of baseline.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Lever if late: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 missed target is fixed and retested for that application only.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M7 Stabilize and hand over: weeks 24 to 26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Operations owns the platform, and the program can close.</a:t>
            </a: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4480560"/>
                <a:gridCol w="2926080"/>
                <a:gridCol w="1005840"/>
                <a:gridCol w="26517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Activity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Owner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Weeks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Output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Hypercare for the final wave; defect burn-down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Squads 1 and 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24 to 25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 open Severity 1 or 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Hand over runbooks, on-call and dashboards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SRE lead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24 to 25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Signed handover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Set cost baseline and optimization backlog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Finance partner, platform lead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Run-cost baseline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Agree dated decommission plan for the source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Program lead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Approved plan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Closure report and lessons learned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Program lead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25 to 26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Closure report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4406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Exit gate: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G7 Program closed, week 26: operations accepts handover; decommission plan approved.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Lever if late: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low-severity defects move to application team backlogs with named owners.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The work fits, with 18 percent headroom</a:t>
            </a:r>
            <a:endParaRPr lang="en-US" sz="3400" dirty="0"/>
          </a:p>
        </p:txBody>
      </p:sp>
      <p:sp>
        <p:nvSpPr>
          <p:cNvPr id="3" name="cap0"/>
          <p:cNvSpPr/>
          <p:nvPr/>
        </p:nvSpPr>
        <p:spPr>
          <a:xfrm>
            <a:off x="548640" y="1371600"/>
            <a:ext cx="4206240" cy="1344168"/>
          </a:xfrm>
          <a:prstGeom prst="roundRect">
            <a:avLst>
              <a:gd name="adj" fmla="val 54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140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2194560" y="16276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person-weeks of demand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202996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20 applications at 7 person-weeks each</a:t>
            </a:r>
            <a:endParaRPr lang="en-US" sz="1200" dirty="0"/>
          </a:p>
        </p:txBody>
      </p:sp>
      <p:sp>
        <p:nvSpPr>
          <p:cNvPr id="7" name="cap1"/>
          <p:cNvSpPr/>
          <p:nvPr/>
        </p:nvSpPr>
        <p:spPr>
          <a:xfrm>
            <a:off x="548640" y="2852928"/>
            <a:ext cx="4206240" cy="1344168"/>
          </a:xfrm>
          <a:prstGeom prst="roundRect">
            <a:avLst>
              <a:gd name="adj" fmla="val 54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035808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171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2194560" y="3108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person-weeks of supply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194560" y="351129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228 gross, 75 percent productive</a:t>
            </a:r>
            <a:endParaRPr lang="en-US" sz="1200" dirty="0"/>
          </a:p>
        </p:txBody>
      </p:sp>
      <p:sp>
        <p:nvSpPr>
          <p:cNvPr id="11" name="cap2"/>
          <p:cNvSpPr/>
          <p:nvPr/>
        </p:nvSpPr>
        <p:spPr>
          <a:xfrm>
            <a:off x="548640" y="4334256"/>
            <a:ext cx="4206240" cy="1344168"/>
          </a:xfrm>
          <a:prstGeom prst="roundRect">
            <a:avLst>
              <a:gd name="adj" fmla="val 54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4517136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2194560" y="45902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person-weeks of headroom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194560" y="499262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about four applications of slack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1371600"/>
          <a:ext cx="65836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657600"/>
                <a:gridCol w="13716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Supply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Calculation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Person-weeks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Squad 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 people, weeks 5 to 25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126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Squad 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 people, weeks 9 to 25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Gross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228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Productive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75 percent, after onboarding, hypercare and DR exercise support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171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5029200" y="434340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The 7 person-week estimate is the assumption the pilot tests.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At 25 percent over, demand reaches 175 and exceeds supply. That is why a 25 percent overrun at gate G3 goes to the steering committee as a re-plan.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5029200" y="53035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The platform team of five and the 30 percent contribution from application teams are in addition, and are not counted here. Peak load is three to four cutovers a week in weeks 14 to 15 and 19 to 20.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Six measures, each with a target, trigger and response</a:t>
            </a:r>
            <a:endParaRPr lang="en-US" sz="3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011680"/>
                <a:gridCol w="2103120"/>
                <a:gridCol w="2651760"/>
                <a:gridCol w="1828800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Measure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Target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Trigger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Response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Decided by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Applications live against plan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On or ahead of plan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Two or more behind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Re-sequence move groups; then draw contingency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Program lead, then steering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First-time cutover success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At least 90 percent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Any rollback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Cause fixed before the next similar cutover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Program lead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Rehearsal inside the window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All, before any go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Any rehearsal over its window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 go. Re-tune or request a longer window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Database lead, business owner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Severity 1 and 2 in hypercare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Zero at each gate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Any open at a gate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The gate does not pass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Steering committee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Recovery targets in test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All Tier 1 and 2 by week 24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Any target missed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Fix and retest that application only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SRE lead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Spend against plan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Within 5 percent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More than 5 percent over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Options to steering within a week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Program lead, finance partner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521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Rhythm: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daily wave stand-up, weekly program review of these measures, go/no-go before every cutover, steering every two weeks, stakeholder report monthly.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Six risks most likely to threaten the date</a:t>
            </a:r>
            <a:endParaRPr lang="en-US" sz="3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463040"/>
                <a:gridCol w="3749040"/>
                <a:gridCol w="1371600"/>
                <a:gridCol w="182880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Risk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Likelihood / impact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What this plan does about it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Owner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Seen first-hand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Undocumented dependencies surface at cutover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High / High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Traffic analysis in discovery, covering vendor and external calls; not interviews alone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Application leads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5"/>
                          </a:solidFill>
                        </a:rPr>
                        <a:t>An external vendor API that nobody had listed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Application teams pulled back to other work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High / High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Capacity is a sponsor decision by week 4; regulatory and freeze dates are on the wave plan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Executive sponsor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5"/>
                          </a:solidFill>
                        </a:rPr>
                        <a:t>A regulatory deadline took the team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Database cutover exceeds its window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Medium / High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Every cutover rehearsed with production-sized data and timed; over the window means no go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Database lead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5"/>
                          </a:solidFill>
                        </a:rPr>
                        <a:t>A migration overran by over a week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Security or audit sign-off arrives late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Medium / High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Security lead embedded from week 1; patterns approved once; evidence at every gate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Security lead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5"/>
                          </a:solidFill>
                        </a:rPr>
                        <a:t>Sign-off arrived late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Legacy .NET cannot be containerized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Medium / Medium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Decide per application by week 3; rehost on virtual machines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Cloud platform lead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5"/>
                          </a:solidFill>
                        </a:rPr>
                        <a:t>A legacy app needed rework before moving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DR exercise fails late in the program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Low / High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Zone failover in every wave; DR dry run in the pilot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SRE lead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5"/>
                          </a:solidFill>
                        </a:rPr>
                        <a:t>A DR test missed its recovery target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Five decisions and what would change them</a:t>
            </a:r>
            <a:endParaRPr lang="en-US" sz="3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743200"/>
                <a:gridCol w="3657600"/>
                <a:gridCol w="27432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Decision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Options considered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Choice and why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Would change if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Migration strategy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Rehost all; replatform; refactor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Replatform. Managed services give HA and DR without code change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More than four applications cannot run unchanged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Sequencing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By tier; by platform; one cutover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 pilot, then one platform at a time. Least hybrid latency and coordination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Discovery shows heavy coupling across the platforms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Database target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Cloud SQL; AlloyDB; PostgreSQL on VMs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Cloud SQL. Built-in failover and the smallest operational change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An extension or performance gap appears in week 3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DR posture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Active-active; warm standby; backup only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Tiered: warm standby, pilot light, restore. Meets a 1-hour RTO without redesign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The business needs near-zero RTO for any application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Cutover style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Zero downtime; planned window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 planned window with a timed rehearsal. Simple, with a clean rollback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 Tier 1 application has no acceptable window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Each choice trades modernization for speed. Refactoring and active-active are logged as a backlog for after the program, not hidden.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Decisions needed, and what gives first</a:t>
            </a:r>
            <a:endParaRPr lang="en-US" sz="3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67512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560320"/>
                <a:gridCol w="822960"/>
              </a:tblGrid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Decision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Owner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Week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Recovery targets per tier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Business owners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Containerize or rehost, per application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Cloud platform lead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Primary and DR regions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Platform and security leads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Team capacity and roadmap reductions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Executive sponsor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Cutover windows and freeze calendar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Business owners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Rollback point of no return per tier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Program and database leads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Source decommission dates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Executive sponsor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levers"/>
          <p:cNvSpPr/>
          <p:nvPr/>
        </p:nvSpPr>
        <p:spPr>
          <a:xfrm>
            <a:off x="7498080" y="1371600"/>
            <a:ext cx="4114800" cy="4206240"/>
          </a:xfrm>
          <a:prstGeom prst="roundRect">
            <a:avLst>
              <a:gd name="adj" fmla="val 1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26680" y="157276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date is fixed. In order, I would: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726680" y="233172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Re-sequence move groups inside a wave (my call)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Draw on the two contingency weeks (steering)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Add a third squad for Wave 2 (sponsor)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Defer Tier 3 DR automation (steering)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Defer a Tier 3 application (sponsor)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726680" y="4754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Week 10 is the first point where the date is confirmed with evidence. I would say so at kick-off.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CP Migration Blue">
  <a:themeElements>
    <a:clrScheme name="GCP Migration Blue">
      <a:dk1>
        <a:srgbClr val="1F2A33"/>
      </a:dk1>
      <a:lt1>
        <a:srgbClr val="FFFFFF"/>
      </a:lt1>
      <a:dk2>
        <a:srgbClr val="34434E"/>
      </a:dk2>
      <a:lt2>
        <a:srgbClr val="EEF3F7"/>
      </a:lt2>
      <a:accent1>
        <a:srgbClr val="00A0DF"/>
      </a:accent1>
      <a:accent2>
        <a:srgbClr val="D98E04"/>
      </a:accent2>
      <a:accent3>
        <a:srgbClr val="B8432B"/>
      </a:accent3>
      <a:accent4>
        <a:srgbClr val="657884"/>
      </a:accent4>
      <a:accent5>
        <a:srgbClr val="006E99"/>
      </a:accent5>
      <a:accent6>
        <a:srgbClr val="A9C3D0"/>
      </a:accent6>
      <a:hlink>
        <a:srgbClr val="006E99"/>
      </a:hlink>
      <a:folHlink>
        <a:srgbClr val="657884"/>
      </a:folHlink>
    </a:clrScheme>
    <a:fontScheme name="GCP Migration Blu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GCP Migration Program Approach</dc:title>
  <dc:subject>PptxGenJS Presentation</dc:subject>
  <dc:creator>Balakrishna Pallapolu</dc:creator>
  <cp:lastModifiedBy>Balakrishna Pallapolu</cp:lastModifiedBy>
  <cp:revision>1</cp:revision>
  <dcterms:created xsi:type="dcterms:W3CDTF">2026-10-05T03:17:12Z</dcterms:created>
  <dcterms:modified xsi:type="dcterms:W3CDTF">2026-10-05T03:17:12Z</dcterms:modified>
</cp:coreProperties>
</file>